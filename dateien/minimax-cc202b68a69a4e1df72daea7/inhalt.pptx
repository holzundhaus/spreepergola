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pergola.blogspot.com/2026/10/sitzplatz-unter-der-pergola-einrichten.html" TargetMode="External"/><Relationship Id="rId3" Type="http://schemas.openxmlformats.org/officeDocument/2006/relationships/hyperlink" Target="https://holzundhaus.github.io/spreepergola/dateien/minimax-cc202b68a69a4e1df72daea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Sitzplatz unter der Pergola einrichten: So wird der Holzrahmen zur Wohlfühlzone · Erklärende Präsentation</a:t>
            </a:r>
          </a:p>
        </p:txBody>
      </p:sp>
      <p:sp>
        <p:nvSpPr>
          <p:cNvPr id="3" name="Content Placeholder 2"/>
          <p:cNvSpPr>
            <a:spLocks noGrp="1"/>
          </p:cNvSpPr>
          <p:nvPr>
            <p:ph idx="1"/>
          </p:nvPr>
        </p:nvSpPr>
        <p:spPr/>
        <p:txBody>
          <a:bodyPr/>
          <a:lstStyle/>
          <a:p>
            <a:r>
              <a:t>Überblick: Eine Pergola schafft einen geschützten Rahmen, doch erst die passende Einrichtung macht daraus einen angenehmen Sitzplatz. Entscheidend sind dabei nicht nur Möbel und Materialien, sondern auch die Verhältnisse am konkreten Standort. Fläche, Himmelsrichtung, Wind und gewünschte Nutzung beeinflussen, welche Lösung sinnvoll ist. Der folgende Leitfaden zeigt, wie Sie Sitzmöbel, seitlichen Schutz, Beschattung und Pflege aufeinander abstimmen, ohne die offene Wirkung der Pergola zu verlieren.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Möbelauswahl: Platz und Nutzung klären</a:t>
            </a:r>
          </a:p>
        </p:txBody>
      </p:sp>
      <p:sp>
        <p:nvSpPr>
          <p:cNvPr id="3" name="Content Placeholder 2"/>
          <p:cNvSpPr>
            <a:spLocks noGrp="1"/>
          </p:cNvSpPr>
          <p:nvPr>
            <p:ph idx="1"/>
          </p:nvPr>
        </p:nvSpPr>
        <p:spPr/>
        <p:txBody>
          <a:bodyPr/>
          <a:lstStyle/>
          <a:p>
            <a:pPr>
              <a:defRPr sz="1800"/>
            </a:pPr>
            <a:r>
              <a:t>Messen Sie zunächst die tatsächlich nutzbare Fläche unter dem Pergolarahmen und skizzieren Sie einen Grundriss. Berücksichtigen Sie dabei nicht nur Tisch und Stühle, sondern auch die Bewegungsflächen zwischen den Plätzen und zu den Zugängen. Überlegen Sie, wie viele Personen regelmäßig sitzen sollen und ob der Bereich vor allem zum Essen, Lesen oder längeren Aufenthalt dienen soll. Eine klare Nutzung hilft, spätere Kompromisse bei der Möblierung zu vermeiden. Prüfen Sie außerdem, wo Sonne, Regen und Wind besonders stark auftreten. So lässt sich bereits vor dem Kauf erkennen, ob ein kompakter Tisch, eine längliche Sitzbank oder zusätzliche Ele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Möbelauswahl: Platz und Nutzung klären</a:t>
            </a:r>
          </a:p>
        </p:txBody>
      </p:sp>
      <p:sp>
        <p:nvSpPr>
          <p:cNvPr id="3" name="Content Placeholder 2"/>
          <p:cNvSpPr>
            <a:spLocks noGrp="1"/>
          </p:cNvSpPr>
          <p:nvPr>
            <p:ph idx="1"/>
          </p:nvPr>
        </p:nvSpPr>
        <p:spPr/>
        <p:txBody>
          <a:bodyPr/>
          <a:lstStyle/>
          <a:p>
            <a:pPr>
              <a:defRPr sz="1800"/>
            </a:pPr>
            <a:r>
              <a:t>mente wie ein Beistelltisch besser geeignet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Wetterfeste Möbel und Materialien auswählen</a:t>
            </a:r>
          </a:p>
        </p:txBody>
      </p:sp>
      <p:sp>
        <p:nvSpPr>
          <p:cNvPr id="3" name="Content Placeholder 2"/>
          <p:cNvSpPr>
            <a:spLocks noGrp="1"/>
          </p:cNvSpPr>
          <p:nvPr>
            <p:ph idx="1"/>
          </p:nvPr>
        </p:nvSpPr>
        <p:spPr/>
        <p:txBody>
          <a:bodyPr/>
          <a:lstStyle/>
          <a:p>
            <a:pPr>
              <a:defRPr sz="1800"/>
            </a:pPr>
            <a:r>
              <a:t>Unter einer offenen Pergola sind Feuchtigkeit,UV-Licht und Wind wichtige Einflussfaktoren. Als Mobiliar kommen je nach Gestaltung und Pflegeaufwand beispielsweise behandeltes Hartholz, pulverbeschichtetes Metall oder Polyrattan infrage. Wichtig ist, dass die gewählten Materialien für den Außenbereich geeignet sind. Textile Auflagen und Polster sollten wasserfest sein; alternativ müssen sie bei Regen schnell ins Trockene gebracht werden können. Vermeiden Sie eine Aufstellung, bei der Kissen und Textilien dauerhaft feucht bleiben. Achten Sie außerdem auf eine stabile Rangordnung: Der Tisch sollte genügend Platz für die gewünschte Personengruppe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Wetterfeste Möbel und Materialien auswählen</a:t>
            </a:r>
          </a:p>
        </p:txBody>
      </p:sp>
      <p:sp>
        <p:nvSpPr>
          <p:cNvPr id="3" name="Content Placeholder 2"/>
          <p:cNvSpPr>
            <a:spLocks noGrp="1"/>
          </p:cNvSpPr>
          <p:nvPr>
            <p:ph idx="1"/>
          </p:nvPr>
        </p:nvSpPr>
        <p:spPr/>
        <p:txBody>
          <a:bodyPr/>
          <a:lstStyle/>
          <a:p>
            <a:pPr>
              <a:defRPr sz="1800"/>
            </a:pPr>
            <a:r>
              <a:t> bieten, während die Stühle bequem erreichbar bleiben. Materialpflege und Aufbauzeit sollten in die Planung einfließen, damit die Einrichtung auch im Alltag funktioniert.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Seitlichen Windschutz sinnvoll ergänzen</a:t>
            </a:r>
          </a:p>
        </p:txBody>
      </p:sp>
      <p:sp>
        <p:nvSpPr>
          <p:cNvPr id="3" name="Content Placeholder 2"/>
          <p:cNvSpPr>
            <a:spLocks noGrp="1"/>
          </p:cNvSpPr>
          <p:nvPr>
            <p:ph idx="1"/>
          </p:nvPr>
        </p:nvSpPr>
        <p:spPr/>
        <p:txBody>
          <a:bodyPr/>
          <a:lstStyle/>
          <a:p>
            <a:pPr>
              <a:defRPr sz="1800"/>
            </a:pPr>
            <a:r>
              <a:t>Offene Seiten können den Windschutz deutlich verbessern. Dafür eignen sich wetterfeste Sichtschutzrollos, transluzente Platten, Kunststoffbahnen sowie Schilf- oder Bambusrohrmatten. Diese Elemente filtern Wind und teilweise leichten Regen ab, ohne den offenen Charakter vollständig aufzugeben. Rankpflanzen können ebenfalls als natürliche Barriere dienen, benötigen jedoch Zeit, bis sie wirksam shielden. Wählen Sie deshalb nach Nutzungszeitraum und Pflegebedarf: Ein Rollo lässt sich flexibel einsetzen, während eine Matte dauerhaft montiert bleibt. Berücksichtigen Sie außerdem die Optik und die Befestigungsmöglichkeiten am vorhandenen Rahmen. Ein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Seitlichen Windschutz sinnvoll ergänzen</a:t>
            </a:r>
          </a:p>
        </p:txBody>
      </p:sp>
      <p:sp>
        <p:nvSpPr>
          <p:cNvPr id="3" name="Content Placeholder 2"/>
          <p:cNvSpPr>
            <a:spLocks noGrp="1"/>
          </p:cNvSpPr>
          <p:nvPr>
            <p:ph idx="1"/>
          </p:nvPr>
        </p:nvSpPr>
        <p:spPr/>
        <p:txBody>
          <a:bodyPr/>
          <a:lstStyle/>
          <a:p>
            <a:pPr>
              <a:defRPr sz="1800"/>
            </a:pPr>
            <a:r>
              <a:t> Windschutz sollte nicht nur zur Wohlfühlzone beitragen, sondern sich auch leicht in das Gesamtkonzept einfügen lassen.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Beschattung nach Sonnenstand und Tagesverlauf planen</a:t>
            </a:r>
          </a:p>
        </p:txBody>
      </p:sp>
      <p:sp>
        <p:nvSpPr>
          <p:cNvPr id="3" name="Content Placeholder 2"/>
          <p:cNvSpPr>
            <a:spLocks noGrp="1"/>
          </p:cNvSpPr>
          <p:nvPr>
            <p:ph idx="1"/>
          </p:nvPr>
        </p:nvSpPr>
        <p:spPr/>
        <p:txBody>
          <a:bodyPr/>
          <a:lstStyle/>
          <a:p>
            <a:pPr>
              <a:defRPr sz="1800"/>
            </a:pPr>
            <a:r>
              <a:t>Ohne Bewuchs bietet eine Pergola zunächst nur begrenzten Schatten. Beobachten Sie deshalb den Sonnenverlauf am vorgesehenen Standort über den Tag und in unterschiedlichen Jahreszeiten. Am Mittag kann die Sonne besonders intensiv sein, während nachmittags bereits die umgebende Bebauung Schatten wirft. Je nach Ergebnis kommen ein Sonnensegel, eine mechanische Beschattung oder eine Kletterpflanze mit dichtem Laub in Betracht. Pflanzen benötigen jedoch Zeit und Pflege, bevor sie den gewünschten Schutz bieten. Eine sofort wirksame Lösung kann sinnvoller sein, wenn der Sitzplatz regelmäßig genutzt wird. Wichtig ist außerdem, dass die Beschattung zu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Beschattung nach Sonnenstand und Tagesverlauf planen</a:t>
            </a:r>
          </a:p>
        </p:txBody>
      </p:sp>
      <p:sp>
        <p:nvSpPr>
          <p:cNvPr id="3" name="Content Placeholder 2"/>
          <p:cNvSpPr>
            <a:spLocks noGrp="1"/>
          </p:cNvSpPr>
          <p:nvPr>
            <p:ph idx="1"/>
          </p:nvPr>
        </p:nvSpPr>
        <p:spPr/>
        <p:txBody>
          <a:bodyPr/>
          <a:lstStyle/>
          <a:p>
            <a:pPr>
              <a:defRPr sz="1800"/>
            </a:pPr>
            <a:r>
              <a:t>r Größe des Rahmens passt und bei Wind nicht ungenutzt herumschlagen sollte. Der Sonnenstand sollte daher vor der Anschaffung feststehen.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Planung zur täglichen Nutzung</a:t>
            </a:r>
          </a:p>
        </p:txBody>
      </p:sp>
      <p:sp>
        <p:nvSpPr>
          <p:cNvPr id="3" name="Content Placeholder 2"/>
          <p:cNvSpPr>
            <a:spLocks noGrp="1"/>
          </p:cNvSpPr>
          <p:nvPr>
            <p:ph idx="1"/>
          </p:nvPr>
        </p:nvSpPr>
        <p:spPr/>
        <p:txBody>
          <a:bodyPr/>
          <a:lstStyle/>
          <a:p>
            <a:pPr>
              <a:defRPr sz="1800"/>
            </a:pPr>
            <a:r>
              <a:t>Eine gut gestaltete Sitzzone berücksichtigt nicht nur das Wetter, sondern auch die Gewohnheiten der Nutzer. Legen Sie fest, welche Elemente dauerhaft bleiben und welche bei schlechtem Wetter schnell entfernt oder abgedeckt werden können. Kontrollieren Sie Holzverbindungen, Beschattung und Befestigungen regelmäßig, besonders nach starkem Wind. Holzoberflächen sowie Metall- und Textilteile benötigen je nach Material unterschiedliche Pflege. Halten Sie Polster trocken und schaffen Sie ausreichend Stauraum für Kissen oder Zubehör. So bleibt die Pergola auch bei wechselhaftem Wetter nutzbar. Wer Fläche, Schutz, Schatten und Pflege gemeinsam plant,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Planung zur täglichen Nutzung</a:t>
            </a:r>
          </a:p>
        </p:txBody>
      </p:sp>
      <p:sp>
        <p:nvSpPr>
          <p:cNvPr id="3" name="Content Placeholder 2"/>
          <p:cNvSpPr>
            <a:spLocks noGrp="1"/>
          </p:cNvSpPr>
          <p:nvPr>
            <p:ph idx="1"/>
          </p:nvPr>
        </p:nvSpPr>
        <p:spPr/>
        <p:txBody>
          <a:bodyPr/>
          <a:lstStyle/>
          <a:p>
            <a:pPr>
              <a:defRPr sz="1800"/>
            </a:pPr>
            <a:r>
              <a:t> erhält eine einladende Wohlfühlzone, die zum offenen Bauprinzip der Pergola passt und langfristig sinnvoll genutzt werden kann.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Sitzplatz unter der Pergola einrichten: So wird der Holzrahmen zur Wohlfühlzone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