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pergola.wordpress.com/2026/10/26/holzpergola-textile-beschattung-segel-markisen-lamellen/" TargetMode="External"/><Relationship Id="rId3" Type="http://schemas.openxmlformats.org/officeDocument/2006/relationships/hyperlink" Target="https://holzundhaus.github.io/spreepergola/dateien/minimax-ff9a602fff6372cfc4647f4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Textile Beschattung für die offene Holzpergola: Segel, Markisen und Lamellen im Planungsraster · Erklärende Präsentation</a:t>
            </a:r>
          </a:p>
        </p:txBody>
      </p:sp>
      <p:sp>
        <p:nvSpPr>
          <p:cNvPr id="3" name="Content Placeholder 2"/>
          <p:cNvSpPr>
            <a:spLocks noGrp="1"/>
          </p:cNvSpPr>
          <p:nvPr>
            <p:ph idx="1"/>
          </p:nvPr>
        </p:nvSpPr>
        <p:spPr/>
        <p:txBody>
          <a:bodyPr/>
          <a:lstStyle/>
          <a:p>
            <a:r>
              <a:t>Überblick: Eine textile Beschattung verändert mehr als die Optik einer offenen Holzpergola. Segel, Markisen und Lamellen bringen zusätzliche Lasten, Wasserwege und Pflegeanforderungen mit. Wer diese Aspekte bereits in der Grundplanung berücksichtigt, kann spätere Nachbesserungen an Anschlüssen, Pfosten oder Holzoberflächen vermeiden. Das folgende Planungsraster hilft, die passende Lösung für die eigene Pergola strukturiert auszuwählen.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Belastung der Pergola früh einplanen</a:t>
            </a:r>
          </a:p>
        </p:txBody>
      </p:sp>
      <p:sp>
        <p:nvSpPr>
          <p:cNvPr id="3" name="Content Placeholder 2"/>
          <p:cNvSpPr>
            <a:spLocks noGrp="1"/>
          </p:cNvSpPr>
          <p:nvPr>
            <p:ph idx="1"/>
          </p:nvPr>
        </p:nvSpPr>
        <p:spPr/>
        <p:txBody>
          <a:bodyPr/>
          <a:lstStyle/>
          <a:p>
            <a:pPr>
              <a:defRPr sz="1800"/>
            </a:pPr>
            <a:r>
              <a:t>Das wichtigste Planungsthema ist die Frage, welche zusätzlichen Kräfte auf das Holzgerüst wirken. Ein Segel ist vergleichsweise leicht, kann unter Wind aber erhebliche Flächenlasten develops. Befestigungspunkte müssen deshalb statisch nachvollziehbar mit Querbalken oder Pfosten verbunden sein. Markisen verursachen durch Motor, Tuchwelle und Gelenkarm punktuelle Lasten, die über Konsolen oder Verstärkungen in das Gerüst übertragen werden müssen. Lamellen liegen dichter am Holz und erzeugen Linienlasten. Bei allen drei Systemen gilt: Die gewählte Beschattung muss zu den bereits vorgesehenen Balken, Pfosten und Abständen passen. Eine zusätzliche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Belastung der Pergola früh einplanen</a:t>
            </a:r>
          </a:p>
        </p:txBody>
      </p:sp>
      <p:sp>
        <p:nvSpPr>
          <p:cNvPr id="3" name="Content Placeholder 2"/>
          <p:cNvSpPr>
            <a:spLocks noGrp="1"/>
          </p:cNvSpPr>
          <p:nvPr>
            <p:ph idx="1"/>
          </p:nvPr>
        </p:nvSpPr>
        <p:spPr/>
        <p:txBody>
          <a:bodyPr/>
          <a:lstStyle/>
          <a:p>
            <a:pPr>
              <a:defRPr sz="1800"/>
            </a:pPr>
            <a:r>
              <a:t> Beschattung ist deshalb kein reines Ausstattungsdetail, sondern Teil der statischen Planung. Mehr zum Einordnung der verschiedenen Systeme bietet das [Planungsraster für textile Beschattung](https://spreepergola.wordpress.com/2026/10/26/holzpergola-textile-beschattung-segel-markisen-lamellen/).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Holzschutz zusammenhängend betrachten</a:t>
            </a:r>
          </a:p>
        </p:txBody>
      </p:sp>
      <p:sp>
        <p:nvSpPr>
          <p:cNvPr id="3" name="Content Placeholder 2"/>
          <p:cNvSpPr>
            <a:spLocks noGrp="1"/>
          </p:cNvSpPr>
          <p:nvPr>
            <p:ph idx="1"/>
          </p:nvPr>
        </p:nvSpPr>
        <p:spPr/>
        <p:txBody>
          <a:bodyPr/>
          <a:lstStyle/>
          <a:p>
            <a:pPr>
              <a:defRPr sz="1800"/>
            </a:pPr>
            <a:r>
              <a:t>Jede Beschattung beeinflusst, wo und wie Regenwasser abläuft. Bei einem Segel sollte die Fläche so geneigt und gespannt sein, dass Wasser kontrolliert abfließt und nicht über Pfosten tropft. Wasser darf sich nicht in Taschen oder hinter Anschlüssen sammeln. Markisen benötigen ebenfalls Aufmerksamkeit: Der Bereich unter dem Kasten sollte kontrollierbar bleiben, damit Holzflächen und Verbindungen weiterhin zugänglich sind. Lamellen leiten Regen gezielt in eine Rinne; deren Ablauf muss vor dem Aufbau festgelegt werden. Zudem bleibt im geschlossenen Zustand Feuchtigkeit länger auf den darüberliegenden Holzbauteilen. Ein Ablüften muss möglich blei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Holzschutz zusammenhängend betrachten</a:t>
            </a:r>
          </a:p>
        </p:txBody>
      </p:sp>
      <p:sp>
        <p:nvSpPr>
          <p:cNvPr id="3" name="Content Placeholder 2"/>
          <p:cNvSpPr>
            <a:spLocks noGrp="1"/>
          </p:cNvSpPr>
          <p:nvPr>
            <p:ph idx="1"/>
          </p:nvPr>
        </p:nvSpPr>
        <p:spPr/>
        <p:txBody>
          <a:bodyPr/>
          <a:lstStyle/>
          <a:p>
            <a:pPr>
              <a:defRPr sz="1800"/>
            </a:pPr>
            <a:r>
              <a:t>ben. Diese Anforderungen gehören zum baulichen Holzschutz. Eine Oberflächenbehandlung allein ersetzt die konstruktive Wasserführung nicht. Die [Pergola-Planung](https://spreepergola.de/) sollte daher Beschattung, Holzgerüst und Holzschutz als zusammenhängendes System behandeln.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Segel, Markisen oder Lamellen: Entscheidungskriterien</a:t>
            </a:r>
          </a:p>
        </p:txBody>
      </p:sp>
      <p:sp>
        <p:nvSpPr>
          <p:cNvPr id="3" name="Content Placeholder 2"/>
          <p:cNvSpPr>
            <a:spLocks noGrp="1"/>
          </p:cNvSpPr>
          <p:nvPr>
            <p:ph idx="1"/>
          </p:nvPr>
        </p:nvSpPr>
        <p:spPr/>
        <p:txBody>
          <a:bodyPr/>
          <a:lstStyle/>
          <a:p>
            <a:pPr>
              <a:defRPr sz="1800"/>
            </a:pPr>
            <a:r>
              <a:t>Die Auswahl sollte nicht allein nach dem gewünschten Schattenbild erfolgen. Für Segel sprechen ein geringes Eigengewicht und eine flexible Anpassung der Fläche. Allerdings ist die Windbeanspruchung deutlich zu berücksichtigen, und die darunterliegenden Holzflächen können im Spritzwasserbereich liegen. Markisen bieten eine motorisierte, bedienbare Lösung, bringen aber zusätzliche Bauteile, Platzbedarf und Wartungsanforderungen mit. Strom und Kabelwege sollten früh eingeplant werden, ohne tragende oder für den Holzschutz relevante Holzverbindungen zu durchbohren. Lamellen wirken kompakt und schützen stark, benötigen jedoch eine passende Lastabt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Segel, Markisen oder Lamellen: Entscheidungskriterien</a:t>
            </a:r>
          </a:p>
        </p:txBody>
      </p:sp>
      <p:sp>
        <p:nvSpPr>
          <p:cNvPr id="3" name="Content Placeholder 2"/>
          <p:cNvSpPr>
            <a:spLocks noGrp="1"/>
          </p:cNvSpPr>
          <p:nvPr>
            <p:ph idx="1"/>
          </p:nvPr>
        </p:nvSpPr>
        <p:spPr/>
        <p:txBody>
          <a:bodyPr/>
          <a:lstStyle/>
          <a:p>
            <a:pPr>
              <a:defRPr sz="1800"/>
            </a:pPr>
            <a:r>
              <a:t>ragung sowie eine durchdachte Regenrinne. Nutzer sollten deshalb prüfen, ob die gewünschte Funktion mit der vorgesehenen offenen Bauweise und den vorhandenen statischen Annahmen vereinbar 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Fragen vor der Bestellung</a:t>
            </a:r>
          </a:p>
        </p:txBody>
      </p:sp>
      <p:sp>
        <p:nvSpPr>
          <p:cNvPr id="3" name="Content Placeholder 2"/>
          <p:cNvSpPr>
            <a:spLocks noGrp="1"/>
          </p:cNvSpPr>
          <p:nvPr>
            <p:ph idx="1"/>
          </p:nvPr>
        </p:nvSpPr>
        <p:spPr/>
        <p:txBody>
          <a:bodyPr/>
          <a:lstStyle/>
          <a:p>
            <a:pPr>
              <a:defRPr sz="1800"/>
            </a:pPr>
            <a:r>
              <a:t>Vor einer Entscheidung lassen sich drei zentrale Fragen klären. Erstens: Welche zusätzlichen Lasten werden über Anschlüsse in das Holz eingeleitet, und sind die betroffenen Bauteile darauf abgestimmt? Zweitens: Wie wird das Wasser abgeführt, und welche Holzbauteile bleiben nach dem Einbau für Sichtkontrolle und Pflege erreichbar? Drittens: Wird Strom für Motor oder Beleuchtung benötigt, und wo verlaufen die Leitungen, ohne die Konstruktion oder den Holzschutz zu beeinträchtigen. Die Antworten helfen, textile Beschattung nicht nachträglich in eine bereits fertige Pergola einzupassen, sondern sie von Beginn an in das Planungspaket zu integriere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Fragen vor der Bestellung</a:t>
            </a:r>
          </a:p>
        </p:txBody>
      </p:sp>
      <p:sp>
        <p:nvSpPr>
          <p:cNvPr id="3" name="Content Placeholder 2"/>
          <p:cNvSpPr>
            <a:spLocks noGrp="1"/>
          </p:cNvSpPr>
          <p:nvPr>
            <p:ph idx="1"/>
          </p:nvPr>
        </p:nvSpPr>
        <p:spPr/>
        <p:txBody>
          <a:bodyPr/>
          <a:lstStyle/>
          <a:p>
            <a:pPr>
              <a:defRPr sz="1800"/>
            </a:pPr>
            <a:r>
              <a:t>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Textile Beschattung für die offene Holzpergola: Segel, Markisen und Lamellen im Planungsraster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