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pergola.wordpress.com/2026/10/31/pergola-anfrage-bauaufsicht-berlin-vorbereiten/" TargetMode="External"/><Relationship Id="rId3" Type="http://schemas.openxmlformats.org/officeDocument/2006/relationships/hyperlink" Target="https://holzundhaus.github.io/spreepergola/dateien/minimax-80dee702f85be84ff870768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Pergola-Anfrage an die Berliner Bauaufsicht: Skizze, Maße und Unterlagen vorbereiten · Erklärende Präsentation</a:t>
            </a:r>
          </a:p>
        </p:txBody>
      </p:sp>
      <p:sp>
        <p:nvSpPr>
          <p:cNvPr id="3" name="Content Placeholder 2"/>
          <p:cNvSpPr>
            <a:spLocks noGrp="1"/>
          </p:cNvSpPr>
          <p:nvPr>
            <p:ph idx="1"/>
          </p:nvPr>
        </p:nvSpPr>
        <p:spPr/>
        <p:txBody>
          <a:bodyPr/>
          <a:lstStyle/>
          <a:p>
            <a:r>
              <a:t>Überblick: Pergola-Anfrage in Berlin vorbereiten: So wird aus einer Pergola-Skizze ein aussagekräftiges Schreiben an die Bauaufsicht. Dieser Leitfaden strukturiert die Unterlagen, die konkreten Fragen und die Angaben, die vor einer Anfrage geprüft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gute Vorbereitung den Verlauf der Anfrage beeinflusst</a:t>
            </a:r>
          </a:p>
        </p:txBody>
      </p:sp>
      <p:sp>
        <p:nvSpPr>
          <p:cNvPr id="3" name="Content Placeholder 2"/>
          <p:cNvSpPr>
            <a:spLocks noGrp="1"/>
          </p:cNvSpPr>
          <p:nvPr>
            <p:ph idx="1"/>
          </p:nvPr>
        </p:nvSpPr>
        <p:spPr/>
        <p:txBody>
          <a:bodyPr/>
          <a:lstStyle/>
          <a:p>
            <a:pPr>
              <a:defRPr sz="1800"/>
            </a:pPr>
            <a:r>
              <a:t>Eine schriftliche Anfrage kann nur dann sinnvoll beurteilt werden, wenn sie den geplanten Standort und die geplante Ausführung nachvollziehbar darstellt. Eine allgemeine Beschreibung wie „Pergola im Garten“ reicht dafür nicht aus. Breite, Tiefe, Höhe, Abstände, Befestigung und Untergrund machen deutlich, was tatsächlich beantragt oder erfragt wird. So lassen sich Rückfragen vermeiden und unterschiedliche Ausführungen voneinander abgrenzen. Wichtig bleibt: Eine Anfrage ist keine pauschale Freigabe und ersetzt kein erforderliches Genehmigungsverfahren. Auch wenn ein Vorhaben nach § 61 der Berliner Bauordnung verfahrensfrei sein kann, sind dadur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gute Vorbereitung den Verlauf der Anfrage beeinflusst</a:t>
            </a:r>
          </a:p>
        </p:txBody>
      </p:sp>
      <p:sp>
        <p:nvSpPr>
          <p:cNvPr id="3" name="Content Placeholder 2"/>
          <p:cNvSpPr>
            <a:spLocks noGrp="1"/>
          </p:cNvSpPr>
          <p:nvPr>
            <p:ph idx="1"/>
          </p:nvPr>
        </p:nvSpPr>
        <p:spPr/>
        <p:txBody>
          <a:bodyPr/>
          <a:lstStyle/>
          <a:p>
            <a:pPr>
              <a:defRPr sz="1800"/>
            </a:pPr>
            <a:r>
              <a:t>ch nicht alle öffentlich-rechtlichen Anforderungen erledigt. Die Verantwortung für die Prüfung bleibt bei der Bauherrschaft.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Unterlagen für die Anfrage zusammenstellen</a:t>
            </a:r>
          </a:p>
        </p:txBody>
      </p:sp>
      <p:sp>
        <p:nvSpPr>
          <p:cNvPr id="3" name="Content Placeholder 2"/>
          <p:cNvSpPr>
            <a:spLocks noGrp="1"/>
          </p:cNvSpPr>
          <p:nvPr>
            <p:ph idx="1"/>
          </p:nvPr>
        </p:nvSpPr>
        <p:spPr/>
        <p:txBody>
          <a:bodyPr/>
          <a:lstStyle/>
          <a:p>
            <a:pPr>
              <a:defRPr sz="1800"/>
            </a:pPr>
            <a:r>
              <a:t>Für eine erste schriftliche Anfrage sind folgende Unterlagen sinnvoll: eine einfache maßstäbliche Lageplan-Skizze, die Maße der Pergola, Angaben zu Grenz- und Gebäudeabständen sowie eine Beschreibung von Ausführung, Befestigung und Untergrund. Die Skizze sollte Grundstücksgrenzen, vorhandene Gebäude, Garage, Schuppen, Zäune, den Standort der Pergola, die Pfosten und die Himmelsrichtung zeigen. Ergänzende Fotos können den Eindruck vom Standort verdeutlichen, ersetzen aber keine Skizze und keine Zahlen. Auch die Adresse und der Bezirk gehören in das Schreiben. Zusätzlich lässt sich angeben, ob ein Bebauungsplan, eine Erhaltungssatzung, eine Mil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Unterlagen für die Anfrage zusammenstellen</a:t>
            </a:r>
          </a:p>
        </p:txBody>
      </p:sp>
      <p:sp>
        <p:nvSpPr>
          <p:cNvPr id="3" name="Content Placeholder 2"/>
          <p:cNvSpPr>
            <a:spLocks noGrp="1"/>
          </p:cNvSpPr>
          <p:nvPr>
            <p:ph idx="1"/>
          </p:nvPr>
        </p:nvSpPr>
        <p:spPr/>
        <p:txBody>
          <a:bodyPr/>
          <a:lstStyle/>
          <a:p>
            <a:pPr>
              <a:defRPr sz="1800"/>
            </a:pPr>
            <a:r>
              <a:t>ieuschutzsatzung oder ein Denkmalschutz beziehungsweise dessen Umgebungsschutz berücksichtigt werden muss. Die Angaben sollten mit öffentlich einsehbaren Quellen abgeglichen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Ausführung und mögliche spätere Veränderungen</a:t>
            </a:r>
          </a:p>
        </p:txBody>
      </p:sp>
      <p:sp>
        <p:nvSpPr>
          <p:cNvPr id="3" name="Content Placeholder 2"/>
          <p:cNvSpPr>
            <a:spLocks noGrp="1"/>
          </p:cNvSpPr>
          <p:nvPr>
            <p:ph idx="1"/>
          </p:nvPr>
        </p:nvSpPr>
        <p:spPr/>
        <p:txBody>
          <a:bodyPr/>
          <a:lstStyle/>
          <a:p>
            <a:pPr>
              <a:defRPr sz="1800"/>
            </a:pPr>
            <a:r>
              <a:t>Die wichtigsten Zahlen sind Außenbreite, Außentiefe und Gesamthöhe in Metern, außerdem die lichte Höhe unter den Querbalken. Bei einem freistehenden Gerüst sind Abstände zu allen vier Seiten sowie zum Haus anzugeben. Bei einer Anbindung an ein Gebäude sollte der geplante Anschlusspunkt benannt werden. Die Ausführungsbeschreibung unterscheidet beispielsweise ein offenes Holzgerüst von einer Pergola mit fester Abdeckung, Sonnensegel oder textiler Beschattung. Auch die geplante Befestigung ist relevant: Punktfundamente, Pfostenanker auf bestehendem Belag oder ein anderer Untergrund führen zu unterschiedlichen Angaben. Wird später eine feste Abde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Ausführung und mögliche spätere Veränderungen</a:t>
            </a:r>
          </a:p>
        </p:txBody>
      </p:sp>
      <p:sp>
        <p:nvSpPr>
          <p:cNvPr id="3" name="Content Placeholder 2"/>
          <p:cNvSpPr>
            <a:spLocks noGrp="1"/>
          </p:cNvSpPr>
          <p:nvPr>
            <p:ph idx="1"/>
          </p:nvPr>
        </p:nvSpPr>
        <p:spPr/>
        <p:txBody>
          <a:bodyPr/>
          <a:lstStyle/>
          <a:p>
            <a:pPr>
              <a:defRPr sz="1800"/>
            </a:pPr>
            <a:r>
              <a:t>ckung oder eine umfangreiche Beschattung ergänzt, sollte diese nicht nur als kleine Änderung behandelt werden. Eine veränderte Ausführung kann anders einzuordnen sein und sollte daher erneut mit der Bauaufsicht geklärt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konkrete Frage statt einer allgemeinen Bitte</a:t>
            </a:r>
          </a:p>
        </p:txBody>
      </p:sp>
      <p:sp>
        <p:nvSpPr>
          <p:cNvPr id="3" name="Content Placeholder 2"/>
          <p:cNvSpPr>
            <a:spLocks noGrp="1"/>
          </p:cNvSpPr>
          <p:nvPr>
            <p:ph idx="1"/>
          </p:nvPr>
        </p:nvSpPr>
        <p:spPr/>
        <p:txBody>
          <a:bodyPr/>
          <a:lstStyle/>
          <a:p>
            <a:pPr>
              <a:defRPr sz="1800"/>
            </a:pPr>
            <a:r>
              <a:t>Das Schreiben sollte mit einer klaren Frage enden. Sinnvoll sind zum Beispiel: „Ist das dargestellte Vorhaben am genannten Standort verfahrensfrei?“ Falls eine Genehmigung erforderlich ist, kann anschließend gefragt werden, welches Verfahren vorgesehen ist und welche zusätzlichen Unterlagen benötigt werden. Außerdem lässt sich erfragen, welche öffentlich-rechtlichen Vorgaben am konkreten Standort zusätzlich zu prüfen sind. Diese Fragen schaffen einen erkennbaren Beratungsauftrag und erleichtern eine dokumentierbare Antwort. Es ist hilfreich, die verwendete Skizze, die Anfrage und die Antwort gemeinsam zu archivieren. So bleibt nachvollziehbar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konkrete Frage statt einer allgemeinen Bitte</a:t>
            </a:r>
          </a:p>
        </p:txBody>
      </p:sp>
      <p:sp>
        <p:nvSpPr>
          <p:cNvPr id="3" name="Content Placeholder 2"/>
          <p:cNvSpPr>
            <a:spLocks noGrp="1"/>
          </p:cNvSpPr>
          <p:nvPr>
            <p:ph idx="1"/>
          </p:nvPr>
        </p:nvSpPr>
        <p:spPr/>
        <p:txBody>
          <a:bodyPr/>
          <a:lstStyle/>
          <a:p>
            <a:pPr>
              <a:defRPr sz="1800"/>
            </a:pPr>
            <a:r>
              <a:t>, welche Ausführung besprochen wurde. Für die weiterführende Einordnung bietet sich der separate Beitrag zur Pergola-Baugenehmigung in Berlin 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vor dem Absenden</a:t>
            </a:r>
          </a:p>
        </p:txBody>
      </p:sp>
      <p:sp>
        <p:nvSpPr>
          <p:cNvPr id="3" name="Content Placeholder 2"/>
          <p:cNvSpPr>
            <a:spLocks noGrp="1"/>
          </p:cNvSpPr>
          <p:nvPr>
            <p:ph idx="1"/>
          </p:nvPr>
        </p:nvSpPr>
        <p:spPr/>
        <p:txBody>
          <a:bodyPr/>
          <a:lstStyle/>
          <a:p>
            <a:pPr>
              <a:defRPr sz="1800"/>
            </a:pPr>
            <a:r>
              <a:t>Vor dem Versand sollten alle Punkte vollständig und widerspruchsfrei eingetragen sein: vollständige Adresse und Bezirk, Lage der Pergola, Breite, Tiefe und Höhe, lichte Durchgangshöhe, Abstände zu Grundstücksgrenzen und Gebäuden, Material, freistehende oder angebundene Ausführung, geplante Beschattung, Befestigung, Untergrund und konkrete Frage. Angaben aus anderen Bundesländern sollten nicht übernommen werden, weil örtliche Regelungen nicht automatisch gelten. Ebenso wichtig ist die eigene Prüfung von Holzschutz, Verankerung und Untergrund. Die Anfrage kann diese technischen Fragen nicht ersetzen. Wer Maße, Untergrund und Befestigung bereits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vor dem Absenden</a:t>
            </a:r>
          </a:p>
        </p:txBody>
      </p:sp>
      <p:sp>
        <p:nvSpPr>
          <p:cNvPr id="3" name="Content Placeholder 2"/>
          <p:cNvSpPr>
            <a:spLocks noGrp="1"/>
          </p:cNvSpPr>
          <p:nvPr>
            <p:ph idx="1"/>
          </p:nvPr>
        </p:nvSpPr>
        <p:spPr/>
        <p:txBody>
          <a:bodyPr/>
          <a:lstStyle/>
          <a:p>
            <a:pPr>
              <a:defRPr sz="1800"/>
            </a:pPr>
            <a:r>
              <a:t> vorbereitet hat, kann die Unterlagen anschließend mit dem Ratgeber zur Pergola-Planung vertiefen.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Pergola-Anfrage an die Berliner Bauaufsicht: Skizze, Maße und Unterlagen vorbereiten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