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pergola/holzpergola-oder-ueberdachung-baurechtliche-abgrenzung-berlin/" TargetMode="External"/><Relationship Id="rId3" Type="http://schemas.openxmlformats.org/officeDocument/2006/relationships/hyperlink" Target="https://holzundhaus.github.io/spreepergola/dateien/minimax-ac704fc72c25bcf3284819a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 Holzpergola oder feste Überdachung: die baurechtliche Abgrenzung in Berlin · Erklärende Präsentation</a:t>
            </a:r>
          </a:p>
        </p:txBody>
      </p:sp>
      <p:sp>
        <p:nvSpPr>
          <p:cNvPr id="3" name="Content Placeholder 2"/>
          <p:cNvSpPr>
            <a:spLocks noGrp="1"/>
          </p:cNvSpPr>
          <p:nvPr>
            <p:ph idx="1"/>
          </p:nvPr>
        </p:nvSpPr>
        <p:spPr/>
        <p:txBody>
          <a:bodyPr/>
          <a:lstStyle/>
          <a:p>
            <a:r>
              <a:t>Überblick: Wer in Berlin eine Holzpergola plant, sollte früh klären, ob das/offene Gerüst tatsächlich als Pergola einzuordnen ist oder bereits als festere Überdachung gilt. Entscheidend sind nicht Produktbezeichnungen, sondern die konkrete Ausführung am vorgesehenen Standort. Der folgende Leitfaden zeigt, welche Angaben für eine belastbare Einordnung zusammengetragen und welche konstruktiven sowie gestalterischen Punkte bereits im Entwurf berücksichtigt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entscheidende Unterscheidung: offen oder dauerhaft geschlossen</a:t>
            </a:r>
          </a:p>
        </p:txBody>
      </p:sp>
      <p:sp>
        <p:nvSpPr>
          <p:cNvPr id="3" name="Content Placeholder 2"/>
          <p:cNvSpPr>
            <a:spLocks noGrp="1"/>
          </p:cNvSpPr>
          <p:nvPr>
            <p:ph idx="1"/>
          </p:nvPr>
        </p:nvSpPr>
        <p:spPr/>
        <p:txBody>
          <a:bodyPr/>
          <a:lstStyle/>
          <a:p>
            <a:pPr>
              <a:defRPr sz="1800"/>
            </a:pPr>
            <a:r>
              <a:t>Eine offene Holzpergola besteht typischerweise aus Pfosten, Querbalken und einer Rankstruktur. Sie lässt Licht, Luft und Regen weitgehend durch und dient häufig als Rankhilfe oder zur räumlichen Gliederung eines Sitzplatzes. Wird die Fläche dagegen dauerhaft und flächig abgeschlossen, etwa durch eine feste Verglasung, eine durchgehende Holz- oder Metallbeplankung, eine verbundene Dachhaut oder eine dauerhaft regendichte Markise, nähert sich das Vorhaben baurechtlich einer Überdachung an. Dann können andere Anforderungen an Maße, Grenzabstände, Statik und Nachweise greifen. Für die Abgrenzung ist daher entscheidend, was tatsächlich gebaut werd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entscheidende Unterscheidung: offen oder dauerhaft geschlossen</a:t>
            </a:r>
          </a:p>
        </p:txBody>
      </p:sp>
      <p:sp>
        <p:nvSpPr>
          <p:cNvPr id="3" name="Content Placeholder 2"/>
          <p:cNvSpPr>
            <a:spLocks noGrp="1"/>
          </p:cNvSpPr>
          <p:nvPr>
            <p:ph idx="1"/>
          </p:nvPr>
        </p:nvSpPr>
        <p:spPr/>
        <p:txBody>
          <a:bodyPr/>
          <a:lstStyle/>
          <a:p>
            <a:pPr>
              <a:defRPr sz="1800"/>
            </a:pPr>
            <a:r>
              <a:t>en soll. Eine ergänzende Übersicht zur Berliner Einordnung bietet der Beitrag „Offene Holzpergola oder feste Überdachung“.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und Ausführung genau erfassen</a:t>
            </a:r>
          </a:p>
        </p:txBody>
      </p:sp>
      <p:sp>
        <p:nvSpPr>
          <p:cNvPr id="3" name="Content Placeholder 2"/>
          <p:cNvSpPr>
            <a:spLocks noGrp="1"/>
          </p:cNvSpPr>
          <p:nvPr>
            <p:ph idx="1"/>
          </p:nvPr>
        </p:nvSpPr>
        <p:spPr/>
        <p:txBody>
          <a:bodyPr/>
          <a:lstStyle/>
          <a:p>
            <a:pPr>
              <a:defRPr sz="1800"/>
            </a:pPr>
            <a:r>
              <a:t>Für eine konkrete Beurteilung benötigt die zuständige Stelle nachvollziehbare Angaben zur geplanten Konstruktion und zu ihrer Lage auf dem Grundstück. Hilfreich sind zunächst eine maßstäbliche Skizze mit Breite, Tiefe und Höhe sowie die Position der Pergola. Ergänzt werden sollten Abstände zu Nachbargrenzen, Bestandsgebäuden, Fenstern und brandschutzrelevanten Wänden. Außerdem sind die vorgesehene Befestigung und eventuelle Anschlüsse an Haus oder Terrasse zu beschreiben. Fotos können die örtliche Situation verdeutlichen, ersetzen aber keine klare Lagedarstellung. Wichtig ist außerdem der Hinweis, ob das Gerüst freistehend oder an ein Gebäude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und Ausführung genau erfassen</a:t>
            </a:r>
          </a:p>
        </p:txBody>
      </p:sp>
      <p:sp>
        <p:nvSpPr>
          <p:cNvPr id="3" name="Content Placeholder 2"/>
          <p:cNvSpPr>
            <a:spLocks noGrp="1"/>
          </p:cNvSpPr>
          <p:nvPr>
            <p:ph idx="1"/>
          </p:nvPr>
        </p:nvSpPr>
        <p:spPr/>
        <p:txBody>
          <a:bodyPr/>
          <a:lstStyle/>
          <a:p>
            <a:pPr>
              <a:defRPr sz="1800"/>
            </a:pPr>
            <a:r>
              <a:t> angebunden werden soll. Denn bei einem Gebäudeverbindung können zusätzliche bauliche Fragen entstehen.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Zusatzelemente und spätere Veränderungen einplanen</a:t>
            </a:r>
          </a:p>
        </p:txBody>
      </p:sp>
      <p:sp>
        <p:nvSpPr>
          <p:cNvPr id="3" name="Content Placeholder 2"/>
          <p:cNvSpPr>
            <a:spLocks noGrp="1"/>
          </p:cNvSpPr>
          <p:nvPr>
            <p:ph idx="1"/>
          </p:nvPr>
        </p:nvSpPr>
        <p:spPr/>
        <p:txBody>
          <a:bodyPr/>
          <a:lstStyle/>
          <a:p>
            <a:pPr>
              <a:defRPr sz="1800"/>
            </a:pPr>
            <a:r>
              <a:t>Eine Pergola sollte nicht nur in ihrem Auslieferungszustand, sondern auch hinsichtlich möglicher Ergänzungen geplant werden. Dichte und dauerhafte Begrünung kann die offene Wirkung einer Holzpergola ebenso verändern wie textile Beschattung, Seitenelemente oder eine spätere feste Abdeckung. Solche Nachrüstungen sollten deshalb bereits im Entwurf benannt werden. Wird eine zunächst offene Konstruktion nachträglich um ein festes Dach erweitert, handelt es sich nicht lediglich um eine Umbenennung. Die geänderte Ausführung ist erneut einzuschätzen, bevor sie umgesetzt wird. Auch bei der Auswahl von Pflanzen empfiehlt es sich, die vorgesehene Begrün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Zusatzelemente und spätere Veränderungen einplanen</a:t>
            </a:r>
          </a:p>
        </p:txBody>
      </p:sp>
      <p:sp>
        <p:nvSpPr>
          <p:cNvPr id="3" name="Content Placeholder 2"/>
          <p:cNvSpPr>
            <a:spLocks noGrp="1"/>
          </p:cNvSpPr>
          <p:nvPr>
            <p:ph idx="1"/>
          </p:nvPr>
        </p:nvSpPr>
        <p:spPr/>
        <p:txBody>
          <a:bodyPr/>
          <a:lstStyle/>
          <a:p>
            <a:pPr>
              <a:defRPr sz="1800"/>
            </a:pPr>
            <a:r>
              <a:t>ung in die Anfrage aufzunehmen, damit Ausführung, Nutzung und baurechtliche Einordnung gemeinsam betrachtet werden können.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Konkrete Anfrage statt pauschaler Freigabe</a:t>
            </a:r>
          </a:p>
        </p:txBody>
      </p:sp>
      <p:sp>
        <p:nvSpPr>
          <p:cNvPr id="3" name="Content Placeholder 2"/>
          <p:cNvSpPr>
            <a:spLocks noGrp="1"/>
          </p:cNvSpPr>
          <p:nvPr>
            <p:ph idx="1"/>
          </p:nvPr>
        </p:nvSpPr>
        <p:spPr/>
        <p:txBody>
          <a:bodyPr/>
          <a:lstStyle/>
          <a:p>
            <a:pPr>
              <a:defRPr sz="1800"/>
            </a:pPr>
            <a:r>
              <a:t>Eine schriftliche Anfrage an die Bauaufsicht sollte die tatsächliche Planung so konkret wie möglich beschreiben. Dazu gehören Maße und Abstände, die vorgesehene offene oder geschlossene Ausführung, Befestigung, Gebäudeanschlüsse sowie die Frage, wie das Vorhaben am konkreten Standort einzuordnen ist. Auch geplante spätere Ergänzungen sollten ausdrücklich angesprochen werden. Im Berliner Bauordnungsrecht können verfahrensfreie Vorhaben zwar erleichtert sein, müssen aber weiterhin die baurechtlichen und sonstigen öffentlich-rechtlichen Vorgaben einhalten. Eine allgemeine Internetaussage wie „verfahrensfrei“ ersetzt deshalb keine Prüfung des Ein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Konkrete Anfrage statt pauschaler Freigabe</a:t>
            </a:r>
          </a:p>
        </p:txBody>
      </p:sp>
      <p:sp>
        <p:nvSpPr>
          <p:cNvPr id="3" name="Content Placeholder 2"/>
          <p:cNvSpPr>
            <a:spLocks noGrp="1"/>
          </p:cNvSpPr>
          <p:nvPr>
            <p:ph idx="1"/>
          </p:nvPr>
        </p:nvSpPr>
        <p:spPr/>
        <p:txBody>
          <a:bodyPr/>
          <a:lstStyle/>
          <a:p>
            <a:pPr>
              <a:defRPr sz="1800"/>
            </a:pPr>
            <a:r>
              <a:t>zelfalls. Antworten, Auflagen und Bedingungen sollten zusammen mit dem Entwurf dokumentiert werden. Grundlage bleibt der konkrete Sachstand, nicht der Produktname.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 aus Planung, Bestellung und Einbau</a:t>
            </a:r>
          </a:p>
        </p:txBody>
      </p:sp>
      <p:sp>
        <p:nvSpPr>
          <p:cNvPr id="3" name="Content Placeholder 2"/>
          <p:cNvSpPr>
            <a:spLocks noGrp="1"/>
          </p:cNvSpPr>
          <p:nvPr>
            <p:ph idx="1"/>
          </p:nvPr>
        </p:nvSpPr>
        <p:spPr/>
        <p:txBody>
          <a:bodyPr/>
          <a:lstStyle/>
          <a:p>
            <a:pPr>
              <a:defRPr sz="1800"/>
            </a:pPr>
            <a:r>
              <a:t>Vor dem Bestellen und Errichten empfiehlt sich eine kurze Bestandsaufnahme: Liegt eine aktuelle Skizze vor, sind alle Maße bekannt und lassen sich Abstände nachvollziehbar darstellen? Ist die gewünschte Nutzung einschließlich Bewuchs, Beschattung oder späterer Seitenelementen beschrieben? Werden Fundamente, Pfostenanker oder Hausanschlüsse ohne vorherige Klärung bereits als endgültig behandelt, kann sich das später als problematisch erweisen. Lassen Sie offene Punkte deshalb vor der Bestellung ansprechen und die abschließende Einordnung zusammen mit Skizze und Plan dokumentieren. Der „Originalbeitrag zur Berliner Pergola-Abgrenzung“ fasst die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 aus Planung, Bestellung und Einbau</a:t>
            </a:r>
          </a:p>
        </p:txBody>
      </p:sp>
      <p:sp>
        <p:nvSpPr>
          <p:cNvPr id="3" name="Content Placeholder 2"/>
          <p:cNvSpPr>
            <a:spLocks noGrp="1"/>
          </p:cNvSpPr>
          <p:nvPr>
            <p:ph idx="1"/>
          </p:nvPr>
        </p:nvSpPr>
        <p:spPr/>
        <p:txBody>
          <a:bodyPr/>
          <a:lstStyle/>
          <a:p>
            <a:pPr>
              <a:defRPr sz="1800"/>
            </a:pPr>
            <a:r>
              <a:t> wichtigsten Prüfschritte noch einmal kompakt zusammen.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Offene Holzpergola oder feste Überdachung: die baurechtliche Abgrenzung in Berlin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