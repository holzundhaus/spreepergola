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spreepergola/-/blob/53dbf31fec558a0687997afce3aedad098c385ee/_posts/2026-10-28-holzpergola-angebot-vergleichen-checkliste.md" TargetMode="External"/><Relationship Id="rId3" Type="http://schemas.openxmlformats.org/officeDocument/2006/relationships/hyperlink" Target="https://holzundhaus.github.io/spreepergola/dateien/minimax-d3cff079f43f824c83480d9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Holzpergola-Angebot richtig lesen: Diese Positionen müssen rein · Erklärende Präsentation</a:t>
            </a:r>
          </a:p>
        </p:txBody>
      </p:sp>
      <p:sp>
        <p:nvSpPr>
          <p:cNvPr id="3" name="Content Placeholder 2"/>
          <p:cNvSpPr>
            <a:spLocks noGrp="1"/>
          </p:cNvSpPr>
          <p:nvPr>
            <p:ph idx="1"/>
          </p:nvPr>
        </p:nvSpPr>
        <p:spPr/>
        <p:txBody>
          <a:bodyPr/>
          <a:lstStyle/>
          <a:p>
            <a:r>
              <a:t>Überblick: Ein Holzpergola-Angebot lässt sich erst sinnvoll vergleichen, wenn Maße, Bauweise, Holzkonstruktion, Oberflächenbehandlung, Verankerung und Montageumfang vergleichbar beschrieben sind. Entscheidend ist deshalb nicht der Quadratmeterpreis allein, sondern das vollständige Leistungsbild. Der Beitrag „Holzpergola-Angebot richtig lesen“ bietet dafür eine praxisnahe Checkliste. Die folgenden Punkte helfen, Angebote zu prüfen, fehlende Angaben zu erkennen und vor der Beauftragung gezielt nachzufragen.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Maße und Bauform eindeutig erfassen</a:t>
            </a:r>
          </a:p>
        </p:txBody>
      </p:sp>
      <p:sp>
        <p:nvSpPr>
          <p:cNvPr id="3" name="Content Placeholder 2"/>
          <p:cNvSpPr>
            <a:spLocks noGrp="1"/>
          </p:cNvSpPr>
          <p:nvPr>
            <p:ph idx="1"/>
          </p:nvPr>
        </p:nvSpPr>
        <p:spPr/>
        <p:txBody>
          <a:bodyPr/>
          <a:lstStyle/>
          <a:p>
            <a:pPr>
              <a:defRPr sz="1800"/>
            </a:pPr>
            <a:r>
              <a:t>Jedes Angebot sollte Breite, Tiefe und freie Höhe in Zentimetern nennen. Außerdem ist festzuhalten, ob die Pergola freistehend oder wandgebunden geplant wird. Pfostenanzahl und ihre Abstände gehören ebenfalls zur Bauform, weil sie die Konstruktion und den benötigten Platz betreffen. Hilfreich ist eine kleine Skizze oder Ansicht, in der die Maße eingetragen sind. So erhalten alle Anbieter dieselbe Grundlage und müssen nicht jede Ausführung unterschiedlich interpretieren. Angaben zur Lage am Gebäude, zu vorhandenen Anschlüssen oder zum Untergrund sollten ergänzt werden, soweit sie für die Konstruktion relevant sind. Fehlen diese Informationen,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Maße und Bauform eindeutig erfassen</a:t>
            </a:r>
          </a:p>
        </p:txBody>
      </p:sp>
      <p:sp>
        <p:nvSpPr>
          <p:cNvPr id="3" name="Content Placeholder 2"/>
          <p:cNvSpPr>
            <a:spLocks noGrp="1"/>
          </p:cNvSpPr>
          <p:nvPr>
            <p:ph idx="1"/>
          </p:nvPr>
        </p:nvSpPr>
        <p:spPr/>
        <p:txBody>
          <a:bodyPr/>
          <a:lstStyle/>
          <a:p>
            <a:pPr>
              <a:defRPr sz="1800"/>
            </a:pPr>
            <a:r>
              <a:t>lässt sich zunächst offen, ob überhaupt dasselbe Produkt verglichen wird.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 Querschnitte und Holzschutz prüfen</a:t>
            </a:r>
          </a:p>
        </p:txBody>
      </p:sp>
      <p:sp>
        <p:nvSpPr>
          <p:cNvPr id="3" name="Content Placeholder 2"/>
          <p:cNvSpPr>
            <a:spLocks noGrp="1"/>
          </p:cNvSpPr>
          <p:nvPr>
            <p:ph idx="1"/>
          </p:nvPr>
        </p:nvSpPr>
        <p:spPr/>
        <p:txBody>
          <a:bodyPr/>
          <a:lstStyle/>
          <a:p>
            <a:pPr>
              <a:defRPr sz="1800"/>
            </a:pPr>
            <a:r>
              <a:t>Neben der Holzart sollte das Angebot die zu erwartende Holzqualität und die geplanten Querschnitte von Pfosten, Riegeln und Sparren benennen. Pauschale Bezeichnungen wie Massivholz oder hochwertiges Holz genügen für einen direkten Vergleich nur bedingt. Wichtig ist zudem, wie die Holzkonstruktion vor Feuchtigkeit geschützt wird. Abtropfkanten, geeignete Neigungen und Belüftung können je nach Ausführung entscheidend sein, damit Wasser nicht in Holzfugen oder aufHolzflächen stehen bleibt. Bei Pergolen mit Bewuchs oder Kletterhilfen sollte das Angebot ausdrücklich nennen, ob diese Elemente berücksichtigt und konstruktiv eingeplant sind. Konstruk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 Querschnitte und Holzschutz prüfen</a:t>
            </a:r>
          </a:p>
        </p:txBody>
      </p:sp>
      <p:sp>
        <p:nvSpPr>
          <p:cNvPr id="3" name="Content Placeholder 2"/>
          <p:cNvSpPr>
            <a:spLocks noGrp="1"/>
          </p:cNvSpPr>
          <p:nvPr>
            <p:ph idx="1"/>
          </p:nvPr>
        </p:nvSpPr>
        <p:spPr/>
        <p:txBody>
          <a:bodyPr/>
          <a:lstStyle/>
          <a:p>
            <a:pPr>
              <a:defRPr sz="1800"/>
            </a:pPr>
            <a:r>
              <a:t>tive Details und Materialangaben gemeinsam prüfen: Nur so werden vergleichbare Angebote daraus.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Oberfläche und spätere Pflege unterscheiden</a:t>
            </a:r>
          </a:p>
        </p:txBody>
      </p:sp>
      <p:sp>
        <p:nvSpPr>
          <p:cNvPr id="3" name="Content Placeholder 2"/>
          <p:cNvSpPr>
            <a:spLocks noGrp="1"/>
          </p:cNvSpPr>
          <p:nvPr>
            <p:ph idx="1"/>
          </p:nvPr>
        </p:nvSpPr>
        <p:spPr/>
        <p:txBody>
          <a:bodyPr/>
          <a:lstStyle/>
          <a:p>
            <a:pPr>
              <a:defRPr sz="1800"/>
            </a:pPr>
            <a:r>
              <a:t>Zu einem vollständigen Angebot gehört die Angabe, ob das Holz bereits vorbehandelt ist oder in welcher Form eine Oberflächenbehandlung erfolgt. Die eingesetzte Lasur oder der Anstrich sollte konkret bezeichnet werden. Ebenso wichtig sind Hinweise zur späteren Pflege und Nachbehandlung. Unterschiedliche Angebote können scheinbar identisch wirken, obwohl eine Oberflächenbehandlung im Preis enthalten ist und bei der anderen erst durch den Auftraggeber organisiert werden muss. Auch die Zuständigkeit für regelmäßige Pflege sollte geklärt werden. Wer diese Punkte nicht vergleicht, riskiert später zusätzliche Arbeitsschritte oder unterschiedliche Pf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Oberfläche und spätere Pflege unterscheiden</a:t>
            </a:r>
          </a:p>
        </p:txBody>
      </p:sp>
      <p:sp>
        <p:nvSpPr>
          <p:cNvPr id="3" name="Content Placeholder 2"/>
          <p:cNvSpPr>
            <a:spLocks noGrp="1"/>
          </p:cNvSpPr>
          <p:nvPr>
            <p:ph idx="1"/>
          </p:nvPr>
        </p:nvSpPr>
        <p:spPr/>
        <p:txBody>
          <a:bodyPr/>
          <a:lstStyle/>
          <a:p>
            <a:pPr>
              <a:defRPr sz="1800"/>
            </a:pPr>
            <a:r>
              <a:t>legeintervalle. Der verknüpfte Ratgeber „Holzpergola-Angebot richtig lesen“ fasst die relevanten Positionen nochmals übersichtlich zusammen.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Fundamente und Pfostenanker konkret anfragen</a:t>
            </a:r>
          </a:p>
        </p:txBody>
      </p:sp>
      <p:sp>
        <p:nvSpPr>
          <p:cNvPr id="3" name="Content Placeholder 2"/>
          <p:cNvSpPr>
            <a:spLocks noGrp="1"/>
          </p:cNvSpPr>
          <p:nvPr>
            <p:ph idx="1"/>
          </p:nvPr>
        </p:nvSpPr>
        <p:spPr/>
        <p:txBody>
          <a:bodyPr/>
          <a:lstStyle/>
          <a:p>
            <a:pPr>
              <a:defRPr sz="1800"/>
            </a:pPr>
            <a:r>
              <a:t>Der Begriff Pfostenanker bezeichnet allein noch kein vollständiges System. Im Angebot sollten Art des Ankersystems, vorgesehene Fundamentmaße und die geplante Verankerung benannt werden. Auch die Prüfung des Untergrunds vor der Montage ist ein wesentlicher Punkt, weil die konkrete Ausführung von den vorhandenen Gegebenheiten abhängt. Fehlt eine klare Aussage, sollte beim Anbieter nachgefragt werden, welche Untergrundvoraussetzungen vorausgesetzt werden und welche Arbeiten gegebenenfalls zusätzlich entstehen. Vorarbeiten wie Stemmarbeiten oder die Vorbereitung der Aufstellfläche können je nach Angebot einbezogen sein oder ausgeschlossen bleibe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Fundamente und Pfostenanker konkret anfragen</a:t>
            </a:r>
          </a:p>
        </p:txBody>
      </p:sp>
      <p:sp>
        <p:nvSpPr>
          <p:cNvPr id="3" name="Content Placeholder 2"/>
          <p:cNvSpPr>
            <a:spLocks noGrp="1"/>
          </p:cNvSpPr>
          <p:nvPr>
            <p:ph idx="1"/>
          </p:nvPr>
        </p:nvSpPr>
        <p:spPr/>
        <p:txBody>
          <a:bodyPr/>
          <a:lstStyle/>
          <a:p>
            <a:pPr>
              <a:defRPr sz="1800"/>
            </a:pPr>
            <a:r>
              <a:t>n. Diese Leistungen gehören deshalb ausdrücklich zum Vergleich, damit am Ende keine Lücke zwischen Angebot und Montage entsteht.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Lieferung, Montage und Vorarbeiten abgrenzen</a:t>
            </a:r>
          </a:p>
        </p:txBody>
      </p:sp>
      <p:sp>
        <p:nvSpPr>
          <p:cNvPr id="3" name="Content Placeholder 2"/>
          <p:cNvSpPr>
            <a:spLocks noGrp="1"/>
          </p:cNvSpPr>
          <p:nvPr>
            <p:ph idx="1"/>
          </p:nvPr>
        </p:nvSpPr>
        <p:spPr/>
        <p:txBody>
          <a:bodyPr/>
          <a:lstStyle/>
          <a:p>
            <a:pPr>
              <a:defRPr sz="1800"/>
            </a:pPr>
            <a:r>
              <a:t>Auch der Montageumfang muss eindeutig beschrieben sein. Zu klären ist, ob die Lieferung allein enthalten ist oder ob eine Montage durch den Anbieter angeboten wird. Vorarbeiten zur Untergrundvorbereitung sowie Stemmarbeiten können zusätzliche Positionen darstellen. Sinnvoll ist außerdem die Angabe, ob eine Ortsbegehung vor dem Auftrag empfohlen, vorgesehen oder bereits erfolgt ist. Gerade bei unterschiedlichen Grundstücken und Bauformen kann der Anbieter dann prüfen, ob die geplante Lösung zu den örtlichen Gegebenheiten passt. Ein qualifiziertes Angebot macht außerdem deutlich, was nicht enthalten ist. Baurechtliche Fragen bleiben davon unber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Lieferung, Montage und Vorarbeiten abgrenzen</a:t>
            </a:r>
          </a:p>
        </p:txBody>
      </p:sp>
      <p:sp>
        <p:nvSpPr>
          <p:cNvPr id="3" name="Content Placeholder 2"/>
          <p:cNvSpPr>
            <a:spLocks noGrp="1"/>
          </p:cNvSpPr>
          <p:nvPr>
            <p:ph idx="1"/>
          </p:nvPr>
        </p:nvSpPr>
        <p:spPr/>
        <p:txBody>
          <a:bodyPr/>
          <a:lstStyle/>
          <a:p>
            <a:pPr>
              <a:defRPr sz="1800"/>
            </a:pPr>
            <a:r>
              <a:t>ührt und sollten separat mit dem zuständigen Bezirksamt geklärt werden, bevor eine Ausführung verbindlich festgelegt wird.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Holzpergola-Angebot richtig lesen: Diese Positionen müssen rein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