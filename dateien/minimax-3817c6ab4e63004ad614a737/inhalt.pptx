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pergola/-/blob/251a0228d30273382c52fc41c7a887301d3330f3/_posts/2026-10-22-holzpergola-eigenleistung-fachmann-grenzen.md" TargetMode="External"/><Relationship Id="rId3" Type="http://schemas.openxmlformats.org/officeDocument/2006/relationships/hyperlink" Target="https://holzundhaus.github.io/spreepergola/dateien/minimax-3817c6ab4e63004ad614a73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 Was Sie selbst machen können – und was besser der Fachmann übernimmt · Erklärende Präsentation</a:t>
            </a:r>
          </a:p>
        </p:txBody>
      </p:sp>
      <p:sp>
        <p:nvSpPr>
          <p:cNvPr id="3" name="Content Placeholder 2"/>
          <p:cNvSpPr>
            <a:spLocks noGrp="1"/>
          </p:cNvSpPr>
          <p:nvPr>
            <p:ph idx="1"/>
          </p:nvPr>
        </p:nvSpPr>
        <p:spPr/>
        <p:txBody>
          <a:bodyPr/>
          <a:lstStyle/>
          <a:p>
            <a:r>
              <a:t>Überblick: Eine Holzpergola kann auch von erfahrenen Heimwerkern teilweise selbst gebaut werden. Entscheidend ist jedoch, wo Vorbereitung eigenverantwortlich möglich ist und wo Statik, Befestigung sowie konstruktiver Holzschutz fachlich geprüft werden müssen. Dieser Ratgeber ordnet die Arbeiten sinnvoll zu und zeigt, welche Fragen vor dem Baubeginn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Planung beginnt mit der realen Gartensituation</a:t>
            </a:r>
          </a:p>
        </p:txBody>
      </p:sp>
      <p:sp>
        <p:nvSpPr>
          <p:cNvPr id="3" name="Content Placeholder 2"/>
          <p:cNvSpPr>
            <a:spLocks noGrp="1"/>
          </p:cNvSpPr>
          <p:nvPr>
            <p:ph idx="1"/>
          </p:nvPr>
        </p:nvSpPr>
        <p:spPr/>
        <p:txBody>
          <a:bodyPr/>
          <a:lstStyle/>
          <a:p>
            <a:pPr>
              <a:defRPr sz="1800"/>
            </a:pPr>
            <a:r>
              <a:t>Vor der Materialplanung sollten nutzbare Fläche, Sitzplatz, Wege und gewünschte Höhe erfasst werden. Ein einfacher Grundriss hilft dabei, die Pergola so einzuordnen, dass sie im Alltag funktioniert und später weder Wege noch Aufenthaltsbereiche einschränkt. Auch der vorhandene Untergrund gehört früh in die Betrachtung: Belag, Schichten und vorhandene Verdichtungen können die spätere Gründung beeinflussen. Kleine Probevertiefungen können Aufschluss über den Boden geben. Grundsätzlich lassen sich Messung, Skizze, Flächenvorbereitung und das Entfernen von Steinen als Vorbereitung selbst erledigen. Diese Schritte schaffen jedoch noch keine Sicher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Planung beginnt mit der realen Gartensituation</a:t>
            </a:r>
          </a:p>
        </p:txBody>
      </p:sp>
      <p:sp>
        <p:nvSpPr>
          <p:cNvPr id="3" name="Content Placeholder 2"/>
          <p:cNvSpPr>
            <a:spLocks noGrp="1"/>
          </p:cNvSpPr>
          <p:nvPr>
            <p:ph idx="1"/>
          </p:nvPr>
        </p:nvSpPr>
        <p:spPr/>
        <p:txBody>
          <a:bodyPr/>
          <a:lstStyle/>
          <a:p>
            <a:pPr>
              <a:defRPr sz="1800"/>
            </a:pPr>
            <a:r>
              <a:t>heit für die endgültige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Vorbereitungsarbeiten selbst möglich sind</a:t>
            </a:r>
          </a:p>
        </p:txBody>
      </p:sp>
      <p:sp>
        <p:nvSpPr>
          <p:cNvPr id="3" name="Content Placeholder 2"/>
          <p:cNvSpPr>
            <a:spLocks noGrp="1"/>
          </p:cNvSpPr>
          <p:nvPr>
            <p:ph idx="1"/>
          </p:nvPr>
        </p:nvSpPr>
        <p:spPr/>
        <p:txBody>
          <a:bodyPr/>
          <a:lstStyle/>
          <a:p>
            <a:pPr>
              <a:defRPr sz="1800"/>
            </a:pPr>
            <a:r>
              <a:t>Zu den sinnvollen Eigenleistungen gehören das Ausmessen des Grundrisses, die Organisation des Aufbaus und die Vorbereitung der Fläche. Holzoberflächen sollten vor einer Behandlung sauber und trocken sein. Nach der Montage sind regelmäßige Sichtkontrollen, die Pflege der Behandlung und ein kontrollierter Rückschnitt der Pflanzen sinnvoll. Diese Aufgaben verlangen keine besondere statische Qualifikation. Wichtig ist, sie von den tragenden und sicherheitsrelevanten Arbeiten zu trennen. Eigenleistung bedeutet nicht, sämtliche Details selbst zu beurteilen, sondern Vorbereitung und wiederkehrende Pflege zuverlässig zu übernehmen.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Statik und Lastabtragung nicht pauschal beurteilt werden können</a:t>
            </a:r>
          </a:p>
        </p:txBody>
      </p:sp>
      <p:sp>
        <p:nvSpPr>
          <p:cNvPr id="3" name="Content Placeholder 2"/>
          <p:cNvSpPr>
            <a:spLocks noGrp="1"/>
          </p:cNvSpPr>
          <p:nvPr>
            <p:ph idx="1"/>
          </p:nvPr>
        </p:nvSpPr>
        <p:spPr/>
        <p:txBody>
          <a:bodyPr/>
          <a:lstStyle/>
          <a:p>
            <a:pPr>
              <a:defRPr sz="1800"/>
            </a:pPr>
            <a:r>
              <a:t>Pfosten, Verbindungen, Befestigung und Untergrund wirken als ein System. Die Kräfte der gesamten Konstruktion müssen über die Pfosten in den Boden geleitet werden. Dafür sind Größe, Material und Anzahl der Bauteile, die gewünschte Spannweite, die Beanspruchung durch Wind sowie die tatsächlichen Bodenverhältnisse relevant. Allgemeine Angaben zu Pfostenstärken oder Fundamentmaßen reichen ohne Prüfung des Einzelfalls nicht aus. Eine unzureichende Dimensionierung kann zu Durchbiegung, Setzschäden oder einem Versagen der Konstruktion führen. Besonders problematisch ist es, große Spannweiten ohne statische Berechnung zu planen.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Feuchteschutz entscheiden über die Haltbarkeit</a:t>
            </a:r>
          </a:p>
        </p:txBody>
      </p:sp>
      <p:sp>
        <p:nvSpPr>
          <p:cNvPr id="3" name="Content Placeholder 2"/>
          <p:cNvSpPr>
            <a:spLocks noGrp="1"/>
          </p:cNvSpPr>
          <p:nvPr>
            <p:ph idx="1"/>
          </p:nvPr>
        </p:nvSpPr>
        <p:spPr/>
        <p:txBody>
          <a:bodyPr/>
          <a:lstStyle/>
          <a:p>
            <a:pPr>
              <a:defRPr sz="1800"/>
            </a:pPr>
            <a:r>
              <a:t>Holzpfosten sollten nicht direkt in die Erde gesetzt werden. Ein zur Konstruktion passender Pfostenanker trennt das Holz vom Boden und schützt die kritische Zone vor dauerhafter Feuchtigkeit. Bei einer Anlehnpergola kommt zusätzlich der Wandanschluss hinzu. Wandbeschaffenheit, Befestigungspunkte und die Abdichtung gegenüber eindringendem Wasser müssen zusammen berücksichtigt werden. Eine Befestigung muss nicht nur sicher am Untergrund oder an der Wand sitzen, sondern auch zur vorgesehenen Lastabtragung passen. Fehler hier können dazu führen, dass sich die Pergola verschiebt oder bei Sturm kippt. Pfostenanker, Anschlussdetails und Holzschutz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 und Feuchteschutz entscheiden über die Haltbarkeit</a:t>
            </a:r>
          </a:p>
        </p:txBody>
      </p:sp>
      <p:sp>
        <p:nvSpPr>
          <p:cNvPr id="3" name="Content Placeholder 2"/>
          <p:cNvSpPr>
            <a:spLocks noGrp="1"/>
          </p:cNvSpPr>
          <p:nvPr>
            <p:ph idx="1"/>
          </p:nvPr>
        </p:nvSpPr>
        <p:spPr/>
        <p:txBody>
          <a:bodyPr/>
          <a:lstStyle/>
          <a:p>
            <a:pPr>
              <a:defRPr sz="1800"/>
            </a:pPr>
            <a:r>
              <a:t>ollten deshalb mit entsprechender Fachkenntnis ausgewählt und umgesetzt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Bewuchs verändert die Belastung über Jahre</a:t>
            </a:r>
          </a:p>
        </p:txBody>
      </p:sp>
      <p:sp>
        <p:nvSpPr>
          <p:cNvPr id="3" name="Content Placeholder 2"/>
          <p:cNvSpPr>
            <a:spLocks noGrp="1"/>
          </p:cNvSpPr>
          <p:nvPr>
            <p:ph idx="1"/>
          </p:nvPr>
        </p:nvSpPr>
        <p:spPr/>
        <p:txBody>
          <a:bodyPr/>
          <a:lstStyle/>
          <a:p>
            <a:pPr>
              <a:defRPr sz="1800"/>
            </a:pPr>
            <a:r>
              <a:t>Eine nachträgliche Begrünung ist mehr als eine optische Ergänzung. Kletterpflanzen entwickeln mit der Zeit Gewicht und erhöhen zugleich die Angriffsfläche für Wind. Deshalb muss bereits in der Planung geklärt werden, welche Pflanzen vorgesehen sind und wie die zusätzlichen Lasten berücksichtigt werden. Eine Begrünung, die erst nach der Fertigstellung ohne Prüfung installiert wird, kann die ursprüngliche Auslegung überfordern. Zudem können dicht wachsende Pflanzen Kontrollstellen verdecken. Vor der Auswahl der Pflanzen ist daher eine fachliche Einschätzung sinnvoll, die sowohl die Tragfähigkeit als auch spätere Pflege- und Kontrollmöglichkeite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Bewuchs verändert die Belastung über Jahre</a:t>
            </a:r>
          </a:p>
        </p:txBody>
      </p:sp>
      <p:sp>
        <p:nvSpPr>
          <p:cNvPr id="3" name="Content Placeholder 2"/>
          <p:cNvSpPr>
            <a:spLocks noGrp="1"/>
          </p:cNvSpPr>
          <p:nvPr>
            <p:ph idx="1"/>
          </p:nvPr>
        </p:nvSpPr>
        <p:spPr/>
        <p:txBody>
          <a:bodyPr/>
          <a:lstStyle/>
          <a:p>
            <a:pPr>
              <a:defRPr sz="1800"/>
            </a:pPr>
            <a:r>
              <a:t>n berücksichtigt.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Aufgabenteilung vor dem Baubeginn</a:t>
            </a:r>
          </a:p>
        </p:txBody>
      </p:sp>
      <p:sp>
        <p:nvSpPr>
          <p:cNvPr id="3" name="Content Placeholder 2"/>
          <p:cNvSpPr>
            <a:spLocks noGrp="1"/>
          </p:cNvSpPr>
          <p:nvPr>
            <p:ph idx="1"/>
          </p:nvPr>
        </p:nvSpPr>
        <p:spPr/>
        <p:txBody>
          <a:bodyPr/>
          <a:lstStyle/>
          <a:p>
            <a:pPr>
              <a:defRPr sz="1800"/>
            </a:pPr>
            <a:r>
              <a:t>Planung, Flächenvorbereitung, Materialaufbereitung und spätere Pflege können gut in Eigenleistung übernommen werden. Für Statik, geeignete Pfostenanker, Wandanschlüsse und konstruktiven Holzschutz ist fachliche Unterstützung unverzichtbar. Eine genaue Beschreibung von Standort, gewünschten Abmessungen, voraussichtlichem Bewuchs und vorhandenem Untergrund erleichtert die Beurteilung und die Vergleichbarkeit entsprechender Angebote. So lässt sich die Eigenleistung sinnvoll begrenzen, ohne auf zentrale Sicherheitsfragen zu verzichten. Der weiterführende Holzpergola-Ratgeber bietet ergänzende Hinweise zu typischen Fehlern und Arbeitsbereichen; 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Aufgabenteilung vor dem Baubeginn</a:t>
            </a:r>
          </a:p>
        </p:txBody>
      </p:sp>
      <p:sp>
        <p:nvSpPr>
          <p:cNvPr id="3" name="Content Placeholder 2"/>
          <p:cNvSpPr>
            <a:spLocks noGrp="1"/>
          </p:cNvSpPr>
          <p:nvPr>
            <p:ph idx="1"/>
          </p:nvPr>
        </p:nvSpPr>
        <p:spPr/>
        <p:txBody>
          <a:bodyPr/>
          <a:lstStyle/>
          <a:p>
            <a:pPr>
              <a:defRPr sz="1800"/>
            </a:pPr>
            <a:r>
              <a:t>e zweite Orientierung unterstützt die Checkliste für die eigene Vorbereitung.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 Was Sie selbst machen können – und was besser der Fachmann übernimmt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